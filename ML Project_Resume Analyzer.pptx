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D1B2A"/>
                </a:solidFill>
                <a:latin typeface="Arial"/>
              </a:rPr>
              <a:t>Model F1 Score Comparison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B7C-4074-8290-EAE2E5A3E0E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B7C-4074-8290-EAE2E5A3E0EF}"/>
              </c:ext>
            </c:extLst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B7C-4074-8290-EAE2E5A3E0EF}"/>
              </c:ext>
            </c:extLst>
          </c:dPt>
          <c:dPt>
            <c:idx val="3"/>
            <c:invertIfNegative val="0"/>
            <c:bubble3D val="0"/>
            <c:spPr>
              <a:solidFill>
                <a:srgbClr val="0F76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B7C-4074-8290-EAE2E5A3E0E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Random Forest</c:v>
                </c:pt>
                <c:pt idx="1">
                  <c:v>Naive Bayes</c:v>
                </c:pt>
                <c:pt idx="2">
                  <c:v>Logistic Regression</c:v>
                </c:pt>
                <c:pt idx="3">
                  <c:v>SVM (LinearSVC)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</c:v>
                </c:pt>
                <c:pt idx="1">
                  <c:v>0.84</c:v>
                </c:pt>
                <c:pt idx="2">
                  <c:v>0.9</c:v>
                </c:pt>
                <c:pt idx="3">
                  <c:v>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B7C-4074-8290-EAE2E5A3E0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304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2651760"/>
            <a:ext cx="3657600" cy="36576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INTELLIGENCE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4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286000" y="2606040"/>
            <a:ext cx="4572000" cy="45720"/>
          </a:xfrm>
          <a:prstGeom prst="rect">
            <a:avLst/>
          </a:prstGeom>
          <a:solidFill>
            <a:srgbClr val="C8DFF0"/>
          </a:solidFill>
          <a:ln w="12700">
            <a:solidFill>
              <a:srgbClr val="C8DF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NLP-Powered Resume Screening and Matching System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C8DF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35204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C8DF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331720" y="35204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35204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C8DF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931920" y="35204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35204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C8DF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32120" y="35204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35204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C8DF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32320" y="35204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Presentation | Machine Learning Project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 MARWAH | Reg. No: 23FE10CSE00136 | Sec-C   |   ASHWIKA BHATNAGAR | Reg. No: 23FE10CSE00381 | Sec-C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Motivation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468880" cy="1188720"/>
          </a:xfrm>
          <a:prstGeom prst="rect">
            <a:avLst/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sec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recruiters spend per resume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468880" cy="1188720"/>
          </a:xfrm>
          <a:prstGeom prst="rect">
            <a:avLst/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0" y="1508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rejected before human review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468880" cy="1188720"/>
          </a:xfrm>
          <a:prstGeom prst="rect">
            <a:avLst/>
          </a:prstGeom>
          <a:solidFill>
            <a:srgbClr val="21295C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35040" y="1508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35040" y="2103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per job posting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73152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resume screening is slow, biased, and inconsistent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lack visibility into what skills they are missing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teams need scalable, data-driven shortlisting tools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73152" cy="1737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ML pipeline for resume–JD matching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 with actionable suggestions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interactive interface via Gradio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in Traditional Hiring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38328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Perspective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reads hundreds of resumes daily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cognitive bias and fatigue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qualified candidates due to time pressure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 scoring method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efficiently compare all applicants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931920" cy="338328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931920" cy="4572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Perspective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96596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which skills the JD actually requires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generic resumes to all jobs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rejected without feedback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quantify how well they match a role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opportunities due to skill gaps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47777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need a smarter, data-driven bridge — and that's exactly what this platform provides.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0515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75488" y="1618488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5488" y="16184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52704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multiple ML classifiers (LR, NB, SVM, RF) using cross-validation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114800" cy="10515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64608" y="1618488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161848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52704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TF-IDF + cosine similarity for semantic resume–JD matching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114800" cy="10515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75488" y="2807208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" y="28072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71576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candidate skills vs. required skills using a custom taxonomy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10515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64608" y="2807208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28072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271576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composite match score and actionable skill-gap suggestions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4114800" cy="10515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" y="3995928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39959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90448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PDF, DOCX, and plain text resume uploads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4114800" cy="10515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64608" y="3995928"/>
            <a:ext cx="530352" cy="53035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64608" y="39959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390448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interactive Gradio demo with visual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Libraries Used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2024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9202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5623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1417320"/>
            <a:ext cx="192024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68880" y="1417320"/>
            <a:ext cx="19202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68880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85623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models, TF-IDF, cross-validation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417320"/>
            <a:ext cx="192024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192024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17720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185623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Stopwords, lemmatization, tokenization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60" y="1417320"/>
            <a:ext cx="192024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766560" y="1417320"/>
            <a:ext cx="1920240" cy="38404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66560" y="14173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185623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feature extraction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063240"/>
            <a:ext cx="192024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063240"/>
            <a:ext cx="19202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3063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50215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web-based UI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68880" y="3063240"/>
            <a:ext cx="192024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68880" y="3063240"/>
            <a:ext cx="1920240" cy="3840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468880" y="3063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/ docx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350215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DOCX file parsing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3063240"/>
            <a:ext cx="192024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17720" y="3063240"/>
            <a:ext cx="192024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17720" y="3063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Matplotlib/Seaborn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350215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gauges, bars, heatmaps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66560" y="3063240"/>
            <a:ext cx="192024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766560" y="3063240"/>
            <a:ext cx="192024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766560" y="3063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3502152"/>
            <a:ext cx="1737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 and matrix ops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8-Phase System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87452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1527048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15270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22199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560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~2500 synthetic resume–JD pairs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216712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23160" y="1417320"/>
            <a:ext cx="187452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063240" y="1527048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063240" y="15270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23160" y="222199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2560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tokenize, lemmatize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16712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0" y="1417320"/>
            <a:ext cx="187452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212080" y="1527048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212080" y="15270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0" y="222199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0" y="2560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Numeric vectors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46520" y="216712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720840" y="1417320"/>
            <a:ext cx="187452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360920" y="1527048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360920" y="15270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20840" y="222199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25603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models, 5-fold CV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108960"/>
            <a:ext cx="187452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14400" y="3218688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14400" y="3218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74320" y="39136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" y="42519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 score wins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48840" y="385876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423160" y="3108960"/>
            <a:ext cx="187452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063240" y="3218688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063240" y="3218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423160" y="39136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423160" y="42519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prob + cosine similarity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97680" y="385876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572000" y="3108960"/>
            <a:ext cx="187452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212080" y="3218688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212080" y="3218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72000" y="39136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0" y="42519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Taxonomy-based gap analysis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46520" y="3858768"/>
            <a:ext cx="2743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720840" y="3108960"/>
            <a:ext cx="1874520" cy="150876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360920" y="3218688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360920" y="3218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20840" y="39136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20840" y="42519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verdict, suggestions, charts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Through the Platform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645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 / DOCX / Text)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463040"/>
            <a:ext cx="164592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Parser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1554480" cy="8229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297680" y="14630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1554480" cy="8229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17920" y="14630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1645920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29260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2926080"/>
            <a:ext cx="1645920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286000" y="29260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97680" y="2926080"/>
            <a:ext cx="1554480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297680" y="29260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15544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17920" y="29260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20240" y="1874520"/>
            <a:ext cx="36576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931920" y="1874520"/>
            <a:ext cx="36576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852160" y="1874520"/>
            <a:ext cx="36576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995160" y="2286000"/>
            <a:ext cx="0" cy="27432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920240" y="3337560"/>
            <a:ext cx="36576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931920" y="3337560"/>
            <a:ext cx="36576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852160" y="3337560"/>
            <a:ext cx="36576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1371600" y="4160520"/>
            <a:ext cx="64008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371600" y="41605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Score | Verdict | Matched/Missing Skills | Suggestions | Visualizations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97280" y="3749040"/>
            <a:ext cx="0" cy="27432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108960" y="3749040"/>
            <a:ext cx="0" cy="27432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074920" y="3749040"/>
            <a:ext cx="0" cy="27432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995160" y="3749040"/>
            <a:ext cx="0" cy="27432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Approach with Cross-Validation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73152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Trained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114800" cy="64008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984248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984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993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2494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fast, high baseline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4114800" cy="64008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2697480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7066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(MultinomialNB)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9626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Probabilistic, best for sparse text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4114800" cy="64008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02920" y="3410712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410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41985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(LinearSVC)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6758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margin, high-dim 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059936"/>
            <a:ext cx="4114800" cy="64008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02920" y="4123944"/>
            <a:ext cx="411480" cy="4114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133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43891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Ensemble, robust to noise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1417320"/>
            <a:ext cx="73152" cy="3291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1206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120640" y="19202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into 5 equal folds, maintaining class ratio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4 folds, test on 1 fold — repeated 5 times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 score computed per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with highest F1 is selected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on full dataset for deployment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37760" y="4069080"/>
            <a:ext cx="3840480" cy="731520"/>
          </a:xfrm>
          <a:prstGeom prst="rect">
            <a:avLst/>
          </a:prstGeom>
          <a:solidFill>
            <a:srgbClr val="E8F5F2"/>
          </a:solidFill>
          <a:ln w="12700">
            <a:solidFill>
              <a:srgbClr val="0F76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74920" y="413308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F1 Score?  Because accuracy alone fails on imbalanced data. F1 balances Precision (avoid false positives) and Recall (avoid missed matches).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and Matching Scores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41732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417320"/>
            <a:ext cx="73152" cy="3246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76072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Score Formula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577840" y="1920240"/>
            <a:ext cx="329184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669280" y="1965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(ML Prob × 0.5) + (Cosine Sim × 0.5)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2697480"/>
            <a:ext cx="109728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760720" y="2697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0.70 — Strong Fit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77840" y="3172968"/>
            <a:ext cx="109728" cy="365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760720" y="31729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0.50–0.69 — Moderate Fit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577840" y="3648456"/>
            <a:ext cx="109728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760720" y="36484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0.30–0.49 — Weak Fit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577840" y="4123944"/>
            <a:ext cx="109728" cy="36576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760720" y="41239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0.30 — Not a Fit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Output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 Walkthrough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342900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Data Scientist Role vs. ML Engineer Resume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Match Score: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26080" y="1874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06240" y="187452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206240" y="1874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 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Skills: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269748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560320" y="2697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269748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480560" y="2697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69748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3081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081528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60320" y="3081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79476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008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0" y="379476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56032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80560" y="3794760"/>
            <a:ext cx="1737360" cy="320040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48056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18795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Suggestion: Add TensorFlow/Keras projects to resume. Obtain AWS Cloud Practitioner certification.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F0C99B-5820-19A3-4695-EDC1C97D3B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92" t="16740" r="12647" b="6518"/>
          <a:stretch>
            <a:fillRect/>
          </a:stretch>
        </p:blipFill>
        <p:spPr>
          <a:xfrm>
            <a:off x="0" y="0"/>
            <a:ext cx="9144000" cy="516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8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15796A-279E-7DC7-6F0F-3E5A9FD9FC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35" t="16984" r="10715" b="7778"/>
          <a:stretch>
            <a:fillRect/>
          </a:stretch>
        </p:blipFill>
        <p:spPr>
          <a:xfrm>
            <a:off x="-1" y="0"/>
            <a:ext cx="914544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2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EC0CE5-EC10-78D7-C516-E03A1FF908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83" t="17619" r="9910" b="666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53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0" y="1143000"/>
            <a:ext cx="3657600" cy="45720"/>
          </a:xfrm>
          <a:prstGeom prst="rect">
            <a:avLst/>
          </a:prstGeom>
          <a:solidFill>
            <a:srgbClr val="C8DFF0"/>
          </a:solidFill>
          <a:ln w="12700">
            <a:solidFill>
              <a:srgbClr val="C8DF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Successfully built an end-to-end ML + NLP resume screening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94767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 classifiers trained; SVM/Logistic Regression achieved best F1 (~0.90+)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780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Hybrid scoring (ML + Cosine Similarity) outperforms either method alone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00837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Taxonomy-based skill extraction gives precise, actionable gap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38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Gradio UI enables real-time demo with zero deployment overhead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System is modular, scalable, and ready for real-world integration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that intelligent, ML-powered tools can transform hiring — making it faster, fairer, and more insightful for both recruiters and candidates.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Can Take This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06040" cy="160020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5819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LLM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TF-IDF with contextual embeddings for semantic understanding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06040" cy="160020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0" y="15819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242316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AWS/GCP for production-grade REST API service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2606040" cy="160020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080760" y="158191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172200" y="21031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2200" y="242316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anonymized real resume-JD pairs from LinkedIn/Indeed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200400"/>
            <a:ext cx="2606040" cy="160020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20040" y="33649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1480" y="38862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20624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mBERT or XLM-R to handle non-English resumes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3200400"/>
            <a:ext cx="2606040" cy="160020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0" y="33649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291840" y="38862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Extraction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420624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for companies, dates, durations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3200400"/>
            <a:ext cx="2606040" cy="1600200"/>
          </a:xfrm>
          <a:prstGeom prst="rect">
            <a:avLst/>
          </a:prstGeom>
          <a:solidFill>
            <a:srgbClr val="EEF4FA"/>
          </a:solidFill>
          <a:ln w="12700">
            <a:solidFill>
              <a:srgbClr val="C8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080760" y="33649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172200" y="38862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Ranker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420624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N resumes against one JD to shortlist top candidates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878</Words>
  <Application>Microsoft Office PowerPoint</Application>
  <PresentationFormat>On-screen Show (16:9)</PresentationFormat>
  <Paragraphs>207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Intelligence Platform</dc:title>
  <dc:subject>PptxGenJS Presentation</dc:subject>
  <dc:creator>PptxGenJS</dc:creator>
  <cp:lastModifiedBy>[BTECH-005-2023-24] ASHWIKA BHATNAGAR</cp:lastModifiedBy>
  <cp:revision>2</cp:revision>
  <dcterms:created xsi:type="dcterms:W3CDTF">2026-04-03T15:55:54Z</dcterms:created>
  <dcterms:modified xsi:type="dcterms:W3CDTF">2026-04-03T16:53:04Z</dcterms:modified>
</cp:coreProperties>
</file>